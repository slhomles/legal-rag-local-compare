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1463040" cy="14630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640080"/>
            <a:ext cx="1097280" cy="1097280"/>
          </a:xfrm>
          <a:prstGeom prst="ellipse">
            <a:avLst/>
          </a:prstGeom>
          <a:solidFill>
            <a:srgbClr val="0F1E3D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phân tích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hợp đồng pháp lý bằng RAG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thay đổi giữa các phiên bản hợp đồng, trích dẫn nguồn và sinh báo cáo — toàn bộ chạy cục bộ.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</a:t>
            </a:r>
            <a:pPr indent="0" marL="0">
              <a:buNone/>
            </a:pPr>
            <a:r>
              <a:rPr lang="en-US" sz="1300" dirty="0">
                <a:solidFill>
                  <a:srgbClr val="87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pPr indent="0" marL="0">
              <a:buNone/>
            </a:pPr>
            <a:r>
              <a:rPr lang="en-US" sz="1300" dirty="0">
                <a:solidFill>
                  <a:srgbClr val="87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</a:t>
            </a:r>
            <a:pPr indent="0" marL="0">
              <a:buNone/>
            </a:pPr>
            <a:r>
              <a:rPr lang="en-US" sz="1300" dirty="0">
                <a:solidFill>
                  <a:srgbClr val="87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trình bày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BỐI CẢNH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Vì sao cần một hệ thống RAG cho hợp đồng?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554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Văn bản dài, nhiều phiên bản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pháp lý thường được sửa qua nhiều bản v1, v2…; so sánh thủ công tốn thời gian và dễ sót.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Cấu trúc chặt chẽ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/ Mục / Điều / Khoản phải được giữ đúng khi chia đoạn — không thể cắt mù theo độ dài.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461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 nhạy cảm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 gửi nội dung hợp đồng ra dịch vụ cloud → mọi mô hình phải chạy cục bộ (offline).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461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Đòi hỏi truy nguồn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phải kèm trích dẫn cụ thể (file, phiên bản, điều khoản) — “không bằng chứng → không kết luận”.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MỤC TIÊU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làm được gì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phiên bản DOCX của cùng một hợp đồng (v1 và v2).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thay đổi THÊM / XOÁ / SỬA ở cấp Điều / Khoản.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nguồn: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thay đổi gắn (doc_id, version, clause_id, đoạn trích).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báo cáo: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+ Word (.docx) + JSON.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Gradio cho người dùng cuối.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buộc: 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hoàn toàn offline trên máy người dùng.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1371600"/>
            <a:ext cx="2834640" cy="1417320"/>
          </a:xfrm>
          <a:prstGeom prst="rect">
            <a:avLst/>
          </a:prstGeom>
          <a:solidFill>
            <a:srgbClr val="EAF1E4"/>
          </a:solidFill>
          <a:ln w="9525">
            <a:solidFill>
              <a:srgbClr val="B9D1A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phạm vi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Tiếng Việt · So sánh 2 bản · Trích nguồn · Báo cáo 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2926080"/>
            <a:ext cx="2834640" cy="1417320"/>
          </a:xfrm>
          <a:prstGeom prst="rect">
            <a:avLst/>
          </a:prstGeom>
          <a:solidFill>
            <a:srgbClr val="F7E8E6"/>
          </a:solidFill>
          <a:ln w="9525">
            <a:solidFill>
              <a:srgbClr val="E0BFB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3337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pháp luật · Đánh giá hợp pháp · PDF scan/OCR · So sánh &gt; 2 bản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KIẾN TRÚC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Luồng xử lý RAG end-to-end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9144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005840" cy="914400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005840" cy="1143000"/>
          </a:xfrm>
          <a:prstGeom prst="rect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4173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417320"/>
            <a:ext cx="54864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Hop_dong_*_v*.docx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737360"/>
            <a:ext cx="228600" cy="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419856" y="1655064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4173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0" y="1417320"/>
            <a:ext cx="54864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paragraphs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1737360"/>
            <a:ext cx="228600" cy="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5202936" y="1655064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14173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1417320"/>
            <a:ext cx="54864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Điều/Chương · token fallback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12280" y="1737360"/>
            <a:ext cx="228600" cy="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6986016" y="1655064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1417320"/>
            <a:ext cx="1554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1417320"/>
            <a:ext cx="54864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 · offline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18120" y="2057400"/>
            <a:ext cx="0" cy="41148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7735824" y="2304288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91640" y="2468880"/>
            <a:ext cx="6995160" cy="6400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ChromaDB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874520" y="283464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legal_contracts_collection   ·   metadata: { doc_id, version, clause_id, chunk_index, text }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776472" y="3108960"/>
            <a:ext cx="0" cy="41148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0">
            <a:off x="3694176" y="3355848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91640" y="3520440"/>
            <a:ext cx="1280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691640" y="3520440"/>
            <a:ext cx="54864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3593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828800" y="3904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 · version · clause_id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71800" y="3863340"/>
            <a:ext cx="164592" cy="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5400000">
            <a:off x="3081528" y="3781044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36392" y="3520440"/>
            <a:ext cx="1280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36392" y="3520440"/>
            <a:ext cx="54864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3593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273552" y="3904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+ filter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16552" y="3863340"/>
            <a:ext cx="164592" cy="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4526280" y="3781044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81144" y="3520440"/>
            <a:ext cx="1280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81144" y="3520440"/>
            <a:ext cx="54864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3593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718304" y="3904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v1 ↔ v2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61304" y="3863340"/>
            <a:ext cx="164592" cy="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400000">
            <a:off x="5971032" y="3781044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25896" y="3520440"/>
            <a:ext cx="1280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025896" y="3520440"/>
            <a:ext cx="54864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63056" y="3593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Qwen2.5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163056" y="3904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{THÊM/XOÁ/SỬA}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306056" y="3863340"/>
            <a:ext cx="164592" cy="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5400000">
            <a:off x="7415784" y="3781044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70648" y="3520440"/>
            <a:ext cx="12801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470648" y="3520440"/>
            <a:ext cx="54864" cy="6858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07808" y="3593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+ Report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607808" y="3904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 + JSON + UI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khối ứng với một module trong  legal_rag/  — chi tiết ở các slide tiếp theo.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INGESTION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Đọc DOCX — chuẩn hoá thành paragraph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loader.py dùng python-docx để trích từng paragraph.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ước đặt tên file giúp suy ra metadata gốc: {doc_id}_{version}.docx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Hop_dong_A_v1.docx  →  doc_id = Hop_dong_A, version = v1.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document_processor.py điều phối loader + chunker và gắn metadata cho từng chunk.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572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scripts/ingest.py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reset_collection() rồi nạp lại toàn bộ data/raw/*.docx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Loader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87452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331720"/>
            <a:ext cx="365760" cy="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6986016" y="2249424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874520"/>
            <a:ext cx="1188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874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2834640"/>
            <a:ext cx="0" cy="32004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6912864" y="3127248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337560"/>
            <a:ext cx="2926080" cy="960120"/>
          </a:xfrm>
          <a:prstGeom prst="rect">
            <a:avLst/>
          </a:prstGeom>
          <a:solidFill>
            <a:srgbClr val="F4F1E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gắn vào chunk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 ·  version  ·  clause_id  ·  chunk_index  ·  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CHUNKING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 đoạn tôn trọng cấu trúc pháp lý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3 lớp regex (cao → thấp) để giữ ranh giới có nghĩa.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bắt “Điều 1”, “Điều 2”…  →  clause_id = dieu_3.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Chương / Mục / Phần làm khung cấp cao.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GENERIC: heading dạng “Phạm vi điều chỉnh”, “Đối tượng áp dụng”.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theo token nếu không có heading: MAX_CHUNK_TOKENS=512, overlap=64.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Thứ tự ưu tiên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2120" y="182880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828800"/>
            <a:ext cx="164592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8288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1828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“Điều N …”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242316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2423160"/>
            <a:ext cx="164592" cy="502920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423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4231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/ Mục / Phần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301752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3017520"/>
            <a:ext cx="164592" cy="502920"/>
          </a:xfrm>
          <a:prstGeom prst="rect">
            <a:avLst/>
          </a:prstGeom>
          <a:solidFill>
            <a:srgbClr val="5B7BA8"/>
          </a:solidFill>
          <a:ln w="12700">
            <a:solidFill>
              <a:srgbClr val="5B7B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017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3017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30175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tự 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61188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3611880"/>
            <a:ext cx="164592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6118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FALLBACK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3611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 · overlap 64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EMBEDDING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hoá bằng BAAI/bge-m3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 — multilingual, hỗ trợ tiếng Việt rất tốt, context dài.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offline (HF_HUB_OFFLINE, TRANSFORMERS_OFFLINE) — không gọi mạng.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= cuda nếu USE_GPU=1, ngược lại fallback CPU.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BGEEmbeddingModel encode batch các chunk thành dense vector.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572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EMBEDDING_MODEL_NAME = 'BAAI/bge-m3'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= 'cuda' if os.environ.get('USE_GPU') == '1' else 'cpu'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 →  vector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874520"/>
            <a:ext cx="1371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“Điều 3. Giá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đồng…”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2331720"/>
            <a:ext cx="274320" cy="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7168896" y="2249424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201168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bge-m3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2880360"/>
            <a:ext cx="0" cy="32004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6912864" y="3182112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429000"/>
            <a:ext cx="2926080" cy="8686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[ 0.12,  -0.03,  0.81,  …,  0.07 ]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 ·  multilingual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VECTOR STORE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Lưu vào ChromaDB cục bộ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persistent client trỏ vào data/chroma_db/.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collection duy nhất: legal_contracts_collection.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chunk lưu kèm metadata để lọc nhanh.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scripts/ingest.py gọi reset_collection() trước  →  nạp lại từ đầu, tránh trùng.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scripts/view_chunks.py để soi dữ liệu đã nạp (--stats, --doc-id, --version).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schema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2120" y="182880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1828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Hop_dong_A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2240280"/>
            <a:ext cx="29260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6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| v2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265176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651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clause_id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dieu_3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3063240"/>
            <a:ext cx="2926080" cy="384048"/>
          </a:xfrm>
          <a:prstGeom prst="rect">
            <a:avLst/>
          </a:prstGeom>
          <a:solidFill>
            <a:srgbClr val="F4F6FA"/>
          </a:solidFill>
          <a:ln w="635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063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chunk_index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3063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 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347472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474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gốc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RETRIEVAL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Tìm kiếm ngữ nghĩa + bộ lọc metadata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LegalRetriever.search(query, doc_id=, version=, clause_id=, k=) — kết hợp similarity và filter.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k=20 mặc định cho luồng so sánh để đủ ngữ cảnh.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giúp giới hạn đúng hợp đồng / phiên bản / điều khoản mong muốn.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chạy độc lập qua CLI để debug truy vấn.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572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scripts/search.py "Quy dinh thanh toan" -k 5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--doc-id Hop_dong_A --version v1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Luồng truy vấn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87452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+  filters {doc_id, version}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2377440"/>
            <a:ext cx="0" cy="274320"/>
          </a:xfrm>
          <a:prstGeom prst="line">
            <a:avLst/>
          </a:prstGeom>
          <a:noFill/>
          <a:ln w="25400">
            <a:solidFill>
              <a:srgbClr val="2C4A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6912864" y="2633472"/>
            <a:ext cx="164592" cy="164592"/>
          </a:xfrm>
          <a:prstGeom prst="rtTriangl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2834640"/>
            <a:ext cx="2926080" cy="502920"/>
          </a:xfrm>
          <a:prstGeom prst="rect">
            <a:avLst/>
          </a:prstGeom>
          <a:solidFill>
            <a:srgbClr val="F4F1E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·  cosine + where{…}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383280"/>
            <a:ext cx="0" cy="27432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6912864" y="3639312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84048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840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  (k = 20 cho compare)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CONTEXT PAIRING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Ghép cặp điều khoản v1 ↔ v2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ContextPairer ghép chunk bản cũ và bản mới theo clause_id chung.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LLM so sánh đúng điều khoản tương ứng, không lệch ngữ cảnh.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lẻ (chỉ có ở một bên) được đánh dấu là THÊM hoặc XOÁ ở cấp điều khoản.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thử: python scripts/search.py "…" --clause-id dieu_3 --pair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Pairing theo clause_id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948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1488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C4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21488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331720"/>
            <a:ext cx="54864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532120" y="26060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C4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6060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2788920"/>
            <a:ext cx="54864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532120" y="30632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C4A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30632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3246120"/>
            <a:ext cx="54864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532120" y="35204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2C4A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9480" y="3520440"/>
            <a:ext cx="11887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3520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dieu_5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703320"/>
            <a:ext cx="54864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53212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cặp được gửi tới LLM để mô tả thay đổi.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GENERATION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Comparator — Ollama Qwen2.5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DocumentComparator gọi Ollama tại http://localhost:11434.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qwen2.5:1.5b — đủ để chạy CPU/GPU local.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 →  output ổn định, deterministic.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num_ctx = 2048, max_tokens = 768  →  KV cache nhỏ, tránh loop.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mỗi cặp là JSON chuẩn: {THÊM, XOÁ, SỬA}.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schema mong đợi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3017520" cy="2514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9202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"changes":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"SỬA",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"old_text": "30%",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"new_text": "40%",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"location": "Khoản 2.1"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CITATION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Gắn nguồn cho từng thay đổi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CitationMapper (legal_rag/generation/citation.py) tra ngược chunk gốc.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change được enrich: (doc_id, version, clause_id, đoạn trích nguyên văn).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tính kiểm chứng: người đọc có thể quay về vị trí gốc trong DOCX.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tắc: nếu không tìm thấy bằng chứng  →  loại bỏ thay đổi đó.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Trước  →  Sau citation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 30%  →  40%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(thiếu nguồn)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2788920"/>
            <a:ext cx="0" cy="274320"/>
          </a:xfrm>
          <a:prstGeom prst="line">
            <a:avLst/>
          </a:prstGeom>
          <a:noFill/>
          <a:ln w="25400">
            <a:solidFill>
              <a:srgbClr val="9C7F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6912864" y="3044952"/>
            <a:ext cx="164592" cy="164592"/>
          </a:xfrm>
          <a:prstGeom prst="rtTriangle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3291840"/>
            <a:ext cx="3017520" cy="10972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 30%  →  40%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7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Hop_dong_A · v2 · dieu_3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 tạm ứng 40% giá trị hợp đồng …”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Sinh báo cáo — Plain text · JSON · Word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3657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365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0" y="502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ReportGenerator dùng LLM để viết tóm tắt; có fallback rule-based nếu Ollama không sẵn sàng.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generate_word_report.py xuất .docx có heading + bảng thay đổi.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trung gian: output/report_data.json — tái sử dụng cho UI/Word report.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scripts/compare.py chạy đầu-đến-cuối: compare → citation → report.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572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scripts/compare.py --doc-id Hop_dong_A --old v1 --new v2 --json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scripts/generate_word_report.py --from-json output/report_data.json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formats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874520"/>
            <a:ext cx="29260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874520"/>
            <a:ext cx="868680" cy="6858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8745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.docx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cho người dùng cuối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2651760"/>
            <a:ext cx="29260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2651760"/>
            <a:ext cx="868680" cy="6858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6517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.json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6517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cấu trúc thay đổi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3429000"/>
            <a:ext cx="29260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3429000"/>
            <a:ext cx="868680" cy="6858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34290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.txt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4290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tóm tắt nhanh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GUARDRAILS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Nguyên tắc: không bằng chứng → không kết luận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Không tư vấn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không đưa ra lời khuyên pháp lý, không bình luận hậu quả của thay đổi.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743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2743200" cy="457200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Không phán xét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đánh giá tính hợp pháp / hợp lệ của điều khoản — chỉ mô tả khác biệt.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743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17320"/>
            <a:ext cx="2743200" cy="457200"/>
          </a:xfrm>
          <a:prstGeom prst="rect">
            <a:avLst/>
          </a:prstGeom>
          <a:solidFill>
            <a:srgbClr val="9C7F3F"/>
          </a:solidFill>
          <a:ln w="12700">
            <a:solidFill>
              <a:srgbClr val="9C7F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Bám sát nguồn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phải có cụm từ xuất hiện y nguyên trong văn bản; banned phrases bị chặn hậu kiểm.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thực thi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 schema · </a:t>
            </a:r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ngẫu nhiên · </a:t>
            </a:r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phrases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hậu sinh · </a:t>
            </a:r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CitationMapper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change không có nguồn.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 chỉ số đánh giá chất lượng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554480"/>
            <a:ext cx="822960" cy="8229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thay đổi có trích dẫn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cụm từ trong change có thật sự xuất hiện ở chunk nguồn không.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554480"/>
            <a:ext cx="822960" cy="822960"/>
          </a:xfrm>
          <a:prstGeom prst="ellipse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trên ground truth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dữ liệu chuẩn ở data/ground_truth/ — bắt được bao nhiêu thay đổi thực.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69480" y="1554480"/>
            <a:ext cx="822960" cy="82296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 compliance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output đúng quy tắc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không vi phạm banned phrases, không đưa kết luận pháp lý.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scripts/evaluate.py --json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scripts/run_evaluation.py --k 20 --doc-ids Hop_dong_A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UI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Gradio cho người dùng cuối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chạy giao diện chat dựa trên Gradio.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chọn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hoặc yêu cầu so sánh.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gọi đúng pipeline RAG ở backend và trả lời cùng trích dẫn.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nút tải về báo cáo Word đã sinh.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371600"/>
            <a:ext cx="3749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46304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93792" y="146304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146304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417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Chatbot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Hop_dong_A v1 và v2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5603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4F1E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6060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3 thay đổi: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SỬA 30% → 40% (Điều 3, Khoản 2.1)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THÊM “bảo lãnh ngân hàng” (Điều 5)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XOÁ phụ lục B (Điều 9)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báo cáo: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bao_cao_Hop_dong_A.docx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Công nghệ sử dụng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chính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691640"/>
            <a:ext cx="777240" cy="7772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python-docx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DOCX paragraph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691640"/>
            <a:ext cx="777240" cy="7772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BAAI/bge-m3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đa ngữ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777240" cy="7772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cục bộ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9260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3200400"/>
            <a:ext cx="777240" cy="7772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48056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 · Qwen2.5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generation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926080"/>
            <a:ext cx="27432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3200400"/>
            <a:ext cx="777240" cy="777240"/>
          </a:xfrm>
          <a:prstGeom prst="ellipse">
            <a:avLst/>
          </a:prstGeom>
          <a:solidFill>
            <a:srgbClr val="0F1E3D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0664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066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chatbot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D6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 ·  Phan tich hop dong phap 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234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RAG cục bộ hoàn chỉnh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ĐƯỢC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Chunk theo cấu trúc pháp lý → Embed → Chroma.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có filter, pairing v1↔v2 theo clause_id.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Qwen2.5 sinh JSON thay đổi, gắn citation.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.docx + UI Gradio + 3 metric đánh giá.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240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PDF scan + OCR cho hợp đồng giấy.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 + dense để tăng recall.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LLM lên qwen2.5:7b khi có GPU; thêm self-check.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nhiều hơn 2 phiên bản trong cùng một báo cáo.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solidFill>
            <a:srgbClr val="0F1E3D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quý thầy cô và mọi người đã lắng nghe  ·  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 thong phan tich hop dong phap ly bang RAG</dc:title>
  <dc:subject>PptxGenJS Presentation</dc:subject>
  <dc:creator>Legal RAG Team</dc:creator>
  <cp:lastModifiedBy>Legal RAG Team</cp:lastModifiedBy>
  <cp:revision>1</cp:revision>
  <dcterms:created xsi:type="dcterms:W3CDTF">2026-06-18T03:41:05Z</dcterms:created>
  <dcterms:modified xsi:type="dcterms:W3CDTF">2026-06-18T03:41:05Z</dcterms:modified>
</cp:coreProperties>
</file>